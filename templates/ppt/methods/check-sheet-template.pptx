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321040" cy="42062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2400" b="1">
                <a:solidFill>
                  <a:srgbClr val="1B2733"/>
                </a:solidFill>
              </a:rPr>
              <a:t>Check Sheet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713232"/>
            <a:ext cx="7772400" cy="23774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100" b="0">
                <a:solidFill>
                  <a:srgbClr val="5A636C"/>
                </a:solidFill>
              </a:rPr>
              <a:t>QCC method template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941832"/>
            <a:ext cx="11155680" cy="27432"/>
          </a:xfrm>
          <a:prstGeom prst="rect">
            <a:avLst/>
          </a:prstGeom>
          <a:solidFill>
            <a:srgbClr val="427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46520" y="1325880"/>
            <a:ext cx="4709160" cy="1143000"/>
          </a:xfrm>
          <a:prstGeom prst="rect">
            <a:avLst/>
          </a:prstGeom>
          <a:solidFill>
            <a:srgbClr val="EEF4F3"/>
          </a:solidFill>
          <a:ln>
            <a:solidFill>
              <a:srgbClr val="AAC3BE"/>
            </a:solidFill>
          </a:ln>
        </p:spPr>
        <p:txBody>
          <a:bodyPr wrap="square" lIns="73152" rIns="73152">
            <a:spAutoFit/>
          </a:bodyPr>
          <a:lstStyle/>
          <a:p>
            <a:r>
              <a:rPr sz="1200" b="0">
                <a:solidFill>
                  <a:srgbClr val="2D3741"/>
                </a:solidFill>
              </a:rPr>
              <a:t>template_id: check_sheet_method_template
method_id: check_sheet
qcc_stage: Understand Current Condition
{{method_name}} | {{qcc_stage}} | {{demo_label}}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5120640" cy="11430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2400" b="1">
                <a:solidFill>
                  <a:srgbClr val="232D37"/>
                </a:solidFill>
              </a:rPr>
              <a:t>Purpose: collect defects or events consistently before analysis.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063240"/>
            <a:ext cx="5303520" cy="237744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Template rules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PowerPoint teaches and presents.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Markdown governs method knowledge.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Python generates data-dependent evidence.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Final project slides must preserve evidence references.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3063240"/>
            <a:ext cx="5303520" cy="237744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Placeholders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{{method_name}}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{{qcc_stage}}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{{demo_label}}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{{check_item}}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{{tally_area}}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{{review_notes}}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355080"/>
            <a:ext cx="10881360" cy="2286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800" b="0">
                <a:solidFill>
                  <a:srgbClr val="697077"/>
                </a:solidFill>
              </a:rPr>
              <a:t>check_sheet_method_template | check_sheet | Final data-dependent evidence belongs in the evidence package.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321040" cy="42062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2400" b="1">
                <a:solidFill>
                  <a:srgbClr val="1B2733"/>
                </a:solidFill>
              </a:rPr>
              <a:t>DATA ENTRY - replace check items and tallies only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713232"/>
            <a:ext cx="7772400" cy="23774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100" b="0">
                <a:solidFill>
                  <a:srgbClr val="5A636C"/>
                </a:solidFill>
              </a:rPr>
              <a:t>Check Sheet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941832"/>
            <a:ext cx="11155680" cy="27432"/>
          </a:xfrm>
          <a:prstGeom prst="rect">
            <a:avLst/>
          </a:prstGeom>
          <a:solidFill>
            <a:srgbClr val="427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051560"/>
            <a:ext cx="4572000" cy="329184"/>
          </a:xfrm>
          <a:prstGeom prst="roundRect">
            <a:avLst/>
          </a:prstGeom>
          <a:solidFill>
            <a:srgbClr val="FFF2CC"/>
          </a:solidFill>
          <a:ln>
            <a:solidFill>
              <a:srgbClr val="D69F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100">
                <a:solidFill>
                  <a:srgbClr val="664B11"/>
                </a:solidFill>
              </a:rPr>
              <a:t>Change data only - keep layout and labels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645920"/>
          <a:ext cx="5486400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83771"/>
                <a:gridCol w="783771"/>
                <a:gridCol w="783771"/>
                <a:gridCol w="783771"/>
                <a:gridCol w="783771"/>
                <a:gridCol w="783771"/>
                <a:gridCol w="783774"/>
              </a:tblGrid>
              <a:tr h="86868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FFFFFF"/>
                          </a:solidFill>
                        </a:defRPr>
                      </a:pPr>
                      <a:r>
                        <a:t>Check item</a:t>
                      </a:r>
                    </a:p>
                  </a:txBody>
                  <a:tcPr marL="45720" marR="45720" marT="27432" marB="27432">
                    <a:solidFill>
                      <a:srgbClr val="427E7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FFFFFF"/>
                          </a:solidFill>
                        </a:defRPr>
                      </a:pPr>
                      <a:r>
                        <a:t>Mon</a:t>
                      </a:r>
                    </a:p>
                  </a:txBody>
                  <a:tcPr marL="45720" marR="45720" marT="27432" marB="27432">
                    <a:solidFill>
                      <a:srgbClr val="427E7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FFFFFF"/>
                          </a:solidFill>
                        </a:defRPr>
                      </a:pPr>
                      <a:r>
                        <a:t>Tue</a:t>
                      </a:r>
                    </a:p>
                  </a:txBody>
                  <a:tcPr marL="45720" marR="45720" marT="27432" marB="27432">
                    <a:solidFill>
                      <a:srgbClr val="427E7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FFFFFF"/>
                          </a:solidFill>
                        </a:defRPr>
                      </a:pPr>
                      <a:r>
                        <a:t>Wed</a:t>
                      </a:r>
                    </a:p>
                  </a:txBody>
                  <a:tcPr marL="45720" marR="45720" marT="27432" marB="27432">
                    <a:solidFill>
                      <a:srgbClr val="427E7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FFFFFF"/>
                          </a:solidFill>
                        </a:defRPr>
                      </a:pPr>
                      <a:r>
                        <a:t>Thu</a:t>
                      </a:r>
                    </a:p>
                  </a:txBody>
                  <a:tcPr marL="45720" marR="45720" marT="27432" marB="27432">
                    <a:solidFill>
                      <a:srgbClr val="427E7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FFFFFF"/>
                          </a:solidFill>
                        </a:defRPr>
                      </a:pPr>
                      <a:r>
                        <a:t>Fri</a:t>
                      </a:r>
                    </a:p>
                  </a:txBody>
                  <a:tcPr marL="45720" marR="45720" marT="27432" marB="27432">
                    <a:solidFill>
                      <a:srgbClr val="427E7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FFFFFF"/>
                          </a:solidFill>
                        </a:defRPr>
                      </a:pPr>
                      <a:r>
                        <a:t>Total</a:t>
                      </a:r>
                    </a:p>
                  </a:txBody>
                  <a:tcPr marL="45720" marR="45720" marT="27432" marB="27432">
                    <a:solidFill>
                      <a:srgbClr val="427E78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Wrong label</a:t>
                      </a:r>
                    </a:p>
                  </a:txBody>
                  <a:tcPr marL="45720" marR="45720" marT="27432" marB="27432">
                    <a:solidFill>
                      <a:srgbClr val="F8F9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8</a:t>
                      </a:r>
                    </a:p>
                  </a:txBody>
                  <a:tcPr marL="45720" marR="45720" marT="27432" marB="27432">
                    <a:solidFill>
                      <a:srgbClr val="F8F9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7</a:t>
                      </a:r>
                    </a:p>
                  </a:txBody>
                  <a:tcPr marL="45720" marR="45720" marT="27432" marB="27432">
                    <a:solidFill>
                      <a:srgbClr val="F8F9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9</a:t>
                      </a:r>
                    </a:p>
                  </a:txBody>
                  <a:tcPr marL="45720" marR="45720" marT="27432" marB="27432">
                    <a:solidFill>
                      <a:srgbClr val="F8F9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10</a:t>
                      </a:r>
                    </a:p>
                  </a:txBody>
                  <a:tcPr marL="45720" marR="45720" marT="27432" marB="27432">
                    <a:solidFill>
                      <a:srgbClr val="F8F9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8</a:t>
                      </a:r>
                    </a:p>
                  </a:txBody>
                  <a:tcPr marL="45720" marR="45720" marT="27432" marB="27432">
                    <a:solidFill>
                      <a:srgbClr val="F8F9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42</a:t>
                      </a:r>
                    </a:p>
                  </a:txBody>
                  <a:tcPr marL="45720" marR="45720" marT="27432" marB="27432">
                    <a:solidFill>
                      <a:srgbClr val="F8F9F7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Missing label</a:t>
                      </a:r>
                    </a:p>
                  </a:txBody>
                  <a:tcPr marL="45720" marR="45720" marT="27432" marB="27432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5</a:t>
                      </a:r>
                    </a:p>
                  </a:txBody>
                  <a:tcPr marL="45720" marR="45720" marT="27432" marB="27432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6</a:t>
                      </a:r>
                    </a:p>
                  </a:txBody>
                  <a:tcPr marL="45720" marR="45720" marT="27432" marB="27432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4</a:t>
                      </a:r>
                    </a:p>
                  </a:txBody>
                  <a:tcPr marL="45720" marR="45720" marT="27432" marB="27432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7</a:t>
                      </a:r>
                    </a:p>
                  </a:txBody>
                  <a:tcPr marL="45720" marR="45720" marT="27432" marB="27432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5</a:t>
                      </a:r>
                    </a:p>
                  </a:txBody>
                  <a:tcPr marL="45720" marR="45720" marT="27432" marB="27432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27</a:t>
                      </a:r>
                    </a:p>
                  </a:txBody>
                  <a:tcPr marL="45720" marR="45720" marT="27432" marB="27432">
                    <a:solidFill>
                      <a:srgbClr val="EEF4F3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Damaged barcode</a:t>
                      </a:r>
                    </a:p>
                  </a:txBody>
                  <a:tcPr marL="45720" marR="45720" marT="27432" marB="27432">
                    <a:solidFill>
                      <a:srgbClr val="F8F9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4</a:t>
                      </a:r>
                    </a:p>
                  </a:txBody>
                  <a:tcPr marL="45720" marR="45720" marT="27432" marB="27432">
                    <a:solidFill>
                      <a:srgbClr val="F8F9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3</a:t>
                      </a:r>
                    </a:p>
                  </a:txBody>
                  <a:tcPr marL="45720" marR="45720" marT="27432" marB="27432">
                    <a:solidFill>
                      <a:srgbClr val="F8F9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5</a:t>
                      </a:r>
                    </a:p>
                  </a:txBody>
                  <a:tcPr marL="45720" marR="45720" marT="27432" marB="27432">
                    <a:solidFill>
                      <a:srgbClr val="F8F9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3</a:t>
                      </a:r>
                    </a:p>
                  </a:txBody>
                  <a:tcPr marL="45720" marR="45720" marT="27432" marB="27432">
                    <a:solidFill>
                      <a:srgbClr val="F8F9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3</a:t>
                      </a:r>
                    </a:p>
                  </a:txBody>
                  <a:tcPr marL="45720" marR="45720" marT="27432" marB="27432">
                    <a:solidFill>
                      <a:srgbClr val="F8F9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18</a:t>
                      </a:r>
                    </a:p>
                  </a:txBody>
                  <a:tcPr marL="45720" marR="45720" marT="27432" marB="27432">
                    <a:solidFill>
                      <a:srgbClr val="F8F9F7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Wrong carton</a:t>
                      </a:r>
                    </a:p>
                  </a:txBody>
                  <a:tcPr marL="45720" marR="45720" marT="27432" marB="27432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 marL="45720" marR="45720" marT="27432" marB="27432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2</a:t>
                      </a:r>
                    </a:p>
                  </a:txBody>
                  <a:tcPr marL="45720" marR="45720" marT="27432" marB="27432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2</a:t>
                      </a:r>
                    </a:p>
                  </a:txBody>
                  <a:tcPr marL="45720" marR="45720" marT="27432" marB="27432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2</a:t>
                      </a:r>
                    </a:p>
                  </a:txBody>
                  <a:tcPr marL="45720" marR="45720" marT="27432" marB="27432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2</a:t>
                      </a:r>
                    </a:p>
                  </a:txBody>
                  <a:tcPr marL="45720" marR="45720" marT="27432" marB="27432">
                    <a:solidFill>
                      <a:srgbClr val="EEF4F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232D37"/>
                          </a:solidFill>
                        </a:defRPr>
                      </a:pPr>
                      <a:r>
                        <a:t>9</a:t>
                      </a:r>
                    </a:p>
                  </a:txBody>
                  <a:tcPr marL="45720" marR="45720" marT="27432" marB="27432">
                    <a:solidFill>
                      <a:srgbClr val="EEF4F3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400800" y="1645920"/>
            <a:ext cx="4937760" cy="434340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How to use this template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Replace the sample rows with project data.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Keep the method labels and review fields.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Move the summarized result into the project slide.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Preserve evidence notes for review.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10881360" cy="2286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800" b="0">
                <a:solidFill>
                  <a:srgbClr val="697077"/>
                </a:solidFill>
              </a:rPr>
              <a:t>check_sheet_method_template | check_sheet | Final data-dependent evidence belongs in the evidence package.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321040" cy="42062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2400" b="1">
                <a:solidFill>
                  <a:srgbClr val="1B2733"/>
                </a:solidFill>
              </a:rPr>
              <a:t>QCC stage fit and required inputs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713232"/>
            <a:ext cx="7772400" cy="23774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100" b="0">
                <a:solidFill>
                  <a:srgbClr val="5A636C"/>
                </a:solidFill>
              </a:rPr>
              <a:t>Check Sheet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941832"/>
            <a:ext cx="11155680" cy="27432"/>
          </a:xfrm>
          <a:prstGeom prst="rect">
            <a:avLst/>
          </a:prstGeom>
          <a:solidFill>
            <a:srgbClr val="427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25880"/>
            <a:ext cx="5212080" cy="452628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QCC stage fit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Understand Current Condition: collect baseline facts.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Use before Pareto, Histogram, or stratification.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A tally shows occurrence, not root cause.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1325880"/>
            <a:ext cx="5212080" cy="452628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Required inputs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Clear observation definition.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Check items or categories.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Collection location and collector.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Source, date range, filters, and notes.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10881360" cy="2286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800" b="0">
                <a:solidFill>
                  <a:srgbClr val="697077"/>
                </a:solidFill>
              </a:rPr>
              <a:t>check_sheet_method_template | check_sheet | Final data-dependent evidence belongs in the evidence package.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321040" cy="42062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2400" b="1">
                <a:solidFill>
                  <a:srgbClr val="1B2733"/>
                </a:solidFill>
              </a:rPr>
              <a:t>When to use and when not to use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713232"/>
            <a:ext cx="7772400" cy="23774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100" b="0">
                <a:solidFill>
                  <a:srgbClr val="5A636C"/>
                </a:solidFill>
              </a:rPr>
              <a:t>Check Sheet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941832"/>
            <a:ext cx="11155680" cy="27432"/>
          </a:xfrm>
          <a:prstGeom prst="rect">
            <a:avLst/>
          </a:prstGeom>
          <a:solidFill>
            <a:srgbClr val="427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25880"/>
            <a:ext cx="5212080" cy="452628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When to use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The team needs consistent manual counts.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Categories, shifts, locations, or dates must be compared.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Data collection rules can be explained simply.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1325880"/>
            <a:ext cx="5212080" cy="452628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When not to use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Observers disagree about what counts.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Categories overlap or change midstream.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The team needs final calculation proof without source data.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10881360" cy="2286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800" b="0">
                <a:solidFill>
                  <a:srgbClr val="697077"/>
                </a:solidFill>
              </a:rPr>
              <a:t>check_sheet_method_template | check_sheet | Final data-dependent evidence belongs in the evidence package.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321040" cy="42062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2400" b="1">
                <a:solidFill>
                  <a:srgbClr val="1B2733"/>
                </a:solidFill>
              </a:rPr>
              <a:t>Blank working slide or worksheet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713232"/>
            <a:ext cx="7772400" cy="23774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100" b="0">
                <a:solidFill>
                  <a:srgbClr val="5A636C"/>
                </a:solidFill>
              </a:rPr>
              <a:t>Check Sheet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941832"/>
            <a:ext cx="11155680" cy="27432"/>
          </a:xfrm>
          <a:prstGeom prst="rect">
            <a:avLst/>
          </a:prstGeom>
          <a:solidFill>
            <a:srgbClr val="427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25880"/>
            <a:ext cx="5212080" cy="452628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Completed demo example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Review the completed demo example before editing.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DEMO EXAMPLE - not project evidence.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Copy the blank working slide or worksheet for project use.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Replace demo text with project facts.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1325880"/>
            <a:ext cx="5212080" cy="452628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Blank working slide or worksheet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Keep method labels visible.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Record source and date range.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Write Key conclusion.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Write Next action.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10881360" cy="2286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800" b="0">
                <a:solidFill>
                  <a:srgbClr val="697077"/>
                </a:solidFill>
              </a:rPr>
              <a:t>check_sheet_method_template | check_sheet | Final data-dependent evidence belongs in the evidence package.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321040" cy="42062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2400" b="1">
                <a:solidFill>
                  <a:srgbClr val="1B2733"/>
                </a:solidFill>
              </a:rPr>
              <a:t>Interpretation patterns and common mistakes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713232"/>
            <a:ext cx="7772400" cy="23774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100" b="0">
                <a:solidFill>
                  <a:srgbClr val="5A636C"/>
                </a:solidFill>
              </a:rPr>
              <a:t>Check Sheet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941832"/>
            <a:ext cx="11155680" cy="27432"/>
          </a:xfrm>
          <a:prstGeom prst="rect">
            <a:avLst/>
          </a:prstGeom>
          <a:solidFill>
            <a:srgbClr val="427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25880"/>
            <a:ext cx="5212080" cy="452628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Interpretation patterns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Most frequent check item: name the item and count.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Pattern: compare location, shift, or date differences.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Next action: convert validated tallies into Pareto or trend data.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Caution: the sheet does not prove root cause.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1325880"/>
            <a:ext cx="5212080" cy="452628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Common mistakes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Changing categories during collection.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Missing source or date range.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Counting different event definitions together.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Treating demo data as project evidence.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10881360" cy="2286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800" b="0">
                <a:solidFill>
                  <a:srgbClr val="697077"/>
                </a:solidFill>
              </a:rPr>
              <a:t>check_sheet_method_template | check_sheet | Final data-dependent evidence belongs in the evidence package.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321040" cy="42062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2400" b="1">
                <a:solidFill>
                  <a:srgbClr val="1B2733"/>
                </a:solidFill>
              </a:rPr>
              <a:t>Facilitator checklist and Python assist decision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713232"/>
            <a:ext cx="7772400" cy="23774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100" b="0">
                <a:solidFill>
                  <a:srgbClr val="5A636C"/>
                </a:solidFill>
              </a:rPr>
              <a:t>Check Sheet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941832"/>
            <a:ext cx="11155680" cy="27432"/>
          </a:xfrm>
          <a:prstGeom prst="rect">
            <a:avLst/>
          </a:prstGeom>
          <a:solidFill>
            <a:srgbClr val="427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25880"/>
            <a:ext cx="5212080" cy="452628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Facilitator checklist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Observation definition is clear.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Source and date range shown.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Categories are understandable and stable.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Key conclusion and next action are written.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1325880"/>
            <a:ext cx="5212080" cy="452628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Python assist decision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PowerPoint is enough for teaching, draft, and small tally sheets.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Python is not normally needed for this worksheet.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Use Python later only to summarize large exported logs.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High-rigor data claims need a validated path.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10881360" cy="2286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800" b="0">
                <a:solidFill>
                  <a:srgbClr val="697077"/>
                </a:solidFill>
              </a:rPr>
              <a:t>check_sheet_method_template | check_sheet | Final data-dependent evidence belongs in the evidence package.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321040" cy="42062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2400" b="1">
                <a:solidFill>
                  <a:srgbClr val="1B2733"/>
                </a:solidFill>
              </a:rPr>
              <a:t>Evidence/source note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713232"/>
            <a:ext cx="7772400" cy="23774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100" b="0">
                <a:solidFill>
                  <a:srgbClr val="5A636C"/>
                </a:solidFill>
              </a:rPr>
              <a:t>Check Sheet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941832"/>
            <a:ext cx="11155680" cy="27432"/>
          </a:xfrm>
          <a:prstGeom prst="rect">
            <a:avLst/>
          </a:prstGeom>
          <a:solidFill>
            <a:srgbClr val="427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25880"/>
            <a:ext cx="5212080" cy="452628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Evidence levels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Level 1: teaching/draft PowerPoint edits.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Level 2: normal project with source and checklist evidence.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Level 3: formal review with source data and versioned template.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Level 4: audit/high-risk reproducible evidence.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1325880"/>
            <a:ext cx="5212080" cy="452628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Evidence/source note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Record source.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Record date range.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Record collection rules and filters.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Record collector and review notes.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10881360" cy="2286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800" b="0">
                <a:solidFill>
                  <a:srgbClr val="697077"/>
                </a:solidFill>
              </a:rPr>
              <a:t>check_sheet_method_template | check_sheet | Final data-dependent evidence belongs in the evidence package.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321040" cy="42062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2400" b="1">
                <a:solidFill>
                  <a:srgbClr val="1B2733"/>
                </a:solidFill>
              </a:rPr>
              <a:t>DEMO EXAMPLE - not project 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713232"/>
            <a:ext cx="7772400" cy="23774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100" b="0">
                <a:solidFill>
                  <a:srgbClr val="5A636C"/>
                </a:solidFill>
              </a:rPr>
              <a:t>Check Sheet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941832"/>
            <a:ext cx="11155680" cy="27432"/>
          </a:xfrm>
          <a:prstGeom prst="rect">
            <a:avLst/>
          </a:prstGeom>
          <a:solidFill>
            <a:srgbClr val="427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051560"/>
            <a:ext cx="3840480" cy="329184"/>
          </a:xfrm>
          <a:prstGeom prst="roundRect">
            <a:avLst/>
          </a:prstGeom>
          <a:solidFill>
            <a:srgbClr val="FFF2CC"/>
          </a:solidFill>
          <a:ln>
            <a:solidFill>
              <a:srgbClr val="D69F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100">
                <a:solidFill>
                  <a:srgbClr val="664B11"/>
                </a:solidFill>
              </a:rPr>
              <a:t>DEMO EXAMPLE - not project evidence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691640"/>
            <a:ext cx="5394960" cy="420624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Demo structure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Change data only: replace the check items and daily tallies.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Check item: {{check_item}}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Tally area: {{tally_area}}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Collection notes: {{review_notes}}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55080" y="1691640"/>
            <a:ext cx="4892040" cy="420624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Reserved placeholders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{{method_name}}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{{qcc_stage}}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{{demo_label}}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{{check_item}}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{{tally_area}}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{{review_notes}}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10881360" cy="2286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800" b="0">
                <a:solidFill>
                  <a:srgbClr val="697077"/>
                </a:solidFill>
              </a:rPr>
              <a:t>check_sheet_method_template | check_sheet | Final data-dependent evidence belongs in the evidence package.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8321040" cy="42062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2400" b="1">
                <a:solidFill>
                  <a:srgbClr val="1B2733"/>
                </a:solidFill>
              </a:rPr>
              <a:t>Blank working slide or worksheet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21207" y="713232"/>
            <a:ext cx="7772400" cy="237744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1100" b="0">
                <a:solidFill>
                  <a:srgbClr val="5A636C"/>
                </a:solidFill>
              </a:rPr>
              <a:t>Check Sheet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941832"/>
            <a:ext cx="11155680" cy="27432"/>
          </a:xfrm>
          <a:prstGeom prst="rect">
            <a:avLst/>
          </a:prstGeom>
          <a:solidFill>
            <a:srgbClr val="427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051560"/>
            <a:ext cx="4754880" cy="329184"/>
          </a:xfrm>
          <a:prstGeom prst="roundRect">
            <a:avLst/>
          </a:prstGeom>
          <a:solidFill>
            <a:srgbClr val="FFF2CC"/>
          </a:solidFill>
          <a:ln>
            <a:solidFill>
              <a:srgbClr val="D69F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100">
                <a:solidFill>
                  <a:srgbClr val="664B11"/>
                </a:solidFill>
              </a:rPr>
              <a:t>Replace demo content with project evidence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691640"/>
            <a:ext cx="5394960" cy="420624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Project slide checklist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Project title: [process, location, and period]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Worksheet: replace demo rows with project check items.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Source: [collector, area, system, or observation point]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Date range: [start to end]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Key conclusion: [what the tally makes visible]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Next action: [Pareto, stratification, or follow-up check]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Prepared by/date: [name and date]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55080" y="1691640"/>
            <a:ext cx="4892040" cy="4206240"/>
          </a:xfrm>
          <a:prstGeom prst="roundRect">
            <a:avLst/>
          </a:prstGeom>
          <a:solidFill>
            <a:srgbClr val="F8F9F7"/>
          </a:solidFill>
          <a:ln>
            <a:solidFill>
              <a:srgbClr val="BEC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28016"/>
          <a:lstStyle/>
          <a:p>
            <a:pPr algn="ctr"/>
            <a:r>
              <a:rPr b="1" sz="1500">
                <a:solidFill>
                  <a:srgbClr val="1B2733"/>
                </a:solidFill>
              </a:rPr>
              <a:t>Reserved placeholders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{{method_name}}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{{qcc_stage}}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{{demo_label}}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{{check_item}}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{{tally_area}}</a:t>
            </a:r>
          </a:p>
          <a:p>
            <a:pPr>
              <a:defRPr sz="1100">
                <a:solidFill>
                  <a:srgbClr val="2D3741"/>
                </a:solidFill>
              </a:defRPr>
            </a:pPr>
            <a:r>
              <a:t>{{review_notes}}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10881360" cy="22860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r>
              <a:rPr sz="800" b="0">
                <a:solidFill>
                  <a:srgbClr val="697077"/>
                </a:solidFill>
              </a:rPr>
              <a:t>check_sheet_method_template | check_sheet | Final data-dependent evidence belongs in the evidence package.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Check Sheet QCC Method Template</dc:title>
  <dc:subject>QCC Toolkit method template</dc:subject>
  <dc:creator/>
  <cp:keywords>qcc, check_sheet, check_sheet_method_template, DEMO EXAMPLE</cp:keywords>
  <dc:description>Generated by tools/build_ppt_templates.py from template catalog and reviewable Markdown source notes.</dc:description>
  <cp:lastModifiedBy>QCC Toolkit</cp:lastModifiedBy>
  <cp:revision>1</cp:revision>
  <dcterms:created xsi:type="dcterms:W3CDTF">2026-07-08T00:00:00Z</dcterms:created>
  <dcterms:modified xsi:type="dcterms:W3CDTF">2026-07-08T00:00:00Z</dcterms:modified>
  <cp:category/>
</cp:coreProperties>
</file>