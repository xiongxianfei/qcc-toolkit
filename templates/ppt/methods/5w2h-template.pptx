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321040" cy="42062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400" b="1">
                <a:solidFill>
                  <a:srgbClr val="1B2733"/>
                </a:solidFill>
              </a:rPr>
              <a:t>5W2H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13232"/>
            <a:ext cx="7772400" cy="23774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100" b="0">
                <a:solidFill>
                  <a:srgbClr val="5A636C"/>
                </a:solidFill>
              </a:rPr>
              <a:t>QCC method template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41832"/>
            <a:ext cx="11155680" cy="27432"/>
          </a:xfrm>
          <a:prstGeom prst="rect">
            <a:avLst/>
          </a:prstGeom>
          <a:solidFill>
            <a:srgbClr val="427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46520" y="1325880"/>
            <a:ext cx="4709160" cy="1143000"/>
          </a:xfrm>
          <a:prstGeom prst="rect">
            <a:avLst/>
          </a:prstGeom>
          <a:solidFill>
            <a:srgbClr val="EEF4F3"/>
          </a:solidFill>
          <a:ln>
            <a:solidFill>
              <a:srgbClr val="AAC3BE"/>
            </a:solidFill>
          </a:ln>
        </p:spPr>
        <p:txBody>
          <a:bodyPr wrap="square" lIns="73152" rIns="73152">
            <a:spAutoFit/>
          </a:bodyPr>
          <a:lstStyle/>
          <a:p>
            <a:r>
              <a:rPr sz="1200" b="0">
                <a:solidFill>
                  <a:srgbClr val="2D3741"/>
                </a:solidFill>
              </a:rPr>
              <a:t>template_id: 5w2h_method_template
method_id: 5w2h
qcc_stage: Define Problem
{{method_name}} | {{qcc_stage}} | {{demo_label}}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5120640" cy="11430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400" b="1">
                <a:solidFill>
                  <a:srgbClr val="232D37"/>
                </a:solidFill>
              </a:rPr>
              <a:t>Purpose: turn a broad issue into a concrete problem statement.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063240"/>
            <a:ext cx="5303520" cy="2377440"/>
          </a:xfrm>
          <a:prstGeom prst="roundRect">
            <a:avLst/>
          </a:prstGeom>
          <a:solidFill>
            <a:srgbClr val="F8F9F7"/>
          </a:solidFill>
          <a:ln>
            <a:solidFill>
              <a:srgbClr val="BEC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28016"/>
          <a:lstStyle/>
          <a:p>
            <a:pPr algn="ctr"/>
            <a:r>
              <a:rPr b="1" sz="1500">
                <a:solidFill>
                  <a:srgbClr val="1B2733"/>
                </a:solidFill>
              </a:rPr>
              <a:t>Template rules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PowerPoint teaches and presents.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Markdown governs method knowledge.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Python generates data-dependent evidence.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Final project slides must preserve evidence references.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3063240"/>
            <a:ext cx="5303520" cy="2377440"/>
          </a:xfrm>
          <a:prstGeom prst="roundRect">
            <a:avLst/>
          </a:prstGeom>
          <a:solidFill>
            <a:srgbClr val="F8F9F7"/>
          </a:solidFill>
          <a:ln>
            <a:solidFill>
              <a:srgbClr val="BEC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28016"/>
          <a:lstStyle/>
          <a:p>
            <a:pPr algn="ctr"/>
            <a:r>
              <a:rPr b="1" sz="1500">
                <a:solidFill>
                  <a:srgbClr val="1B2733"/>
                </a:solidFill>
              </a:rPr>
              <a:t>Placeholders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{{method_name}}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{{qcc_stage}}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{{demo_label}}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{{what}}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{{why}}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{{where}}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{{when}}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{{who}}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{{how}}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{{how_much}}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088136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800" b="0">
                <a:solidFill>
                  <a:srgbClr val="697077"/>
                </a:solidFill>
              </a:rPr>
              <a:t>5w2h_method_template | 5w2h | Final data-dependent evidence belongs in the evidence package.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321040" cy="42062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400" b="1">
                <a:solidFill>
                  <a:srgbClr val="1B2733"/>
                </a:solidFill>
              </a:rPr>
              <a:t>DATA ENTRY - replace 5W2H answers only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13232"/>
            <a:ext cx="7772400" cy="23774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100" b="0">
                <a:solidFill>
                  <a:srgbClr val="5A636C"/>
                </a:solidFill>
              </a:rPr>
              <a:t>5W2H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41832"/>
            <a:ext cx="11155680" cy="27432"/>
          </a:xfrm>
          <a:prstGeom prst="rect">
            <a:avLst/>
          </a:prstGeom>
          <a:solidFill>
            <a:srgbClr val="427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051560"/>
            <a:ext cx="4572000" cy="329184"/>
          </a:xfrm>
          <a:prstGeom prst="roundRect">
            <a:avLst/>
          </a:prstGeom>
          <a:solidFill>
            <a:srgbClr val="FFF2CC"/>
          </a:solidFill>
          <a:ln>
            <a:solidFill>
              <a:srgbClr val="D69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664B11"/>
                </a:solidFill>
              </a:rPr>
              <a:t>Change data only - keep layout and labels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45920"/>
          <a:ext cx="54864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54292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Field</a:t>
                      </a:r>
                    </a:p>
                  </a:txBody>
                  <a:tcPr marL="45720" marR="45720" marT="27432" marB="27432">
                    <a:solidFill>
                      <a:srgbClr val="427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FFFFF"/>
                          </a:solidFill>
                        </a:defRPr>
                      </a:pPr>
                      <a:r>
                        <a:t>Project answer</a:t>
                      </a:r>
                    </a:p>
                  </a:txBody>
                  <a:tcPr marL="45720" marR="45720" marT="27432" marB="27432">
                    <a:solidFill>
                      <a:srgbClr val="427E78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32D37"/>
                          </a:solidFill>
                        </a:defRPr>
                      </a:pPr>
                      <a:r>
                        <a:t>What</a:t>
                      </a:r>
                    </a:p>
                  </a:txBody>
                  <a:tcPr marL="45720" marR="45720" marT="27432" marB="27432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32D37"/>
                          </a:solidFill>
                        </a:defRPr>
                      </a:pPr>
                      <a:r>
                        <a:t>Packing labels are applied incorrectly</a:t>
                      </a:r>
                    </a:p>
                  </a:txBody>
                  <a:tcPr marL="45720" marR="45720" marT="27432" marB="27432">
                    <a:solidFill>
                      <a:srgbClr val="F8F9F7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32D37"/>
                          </a:solidFill>
                        </a:defRPr>
                      </a:pPr>
                      <a:r>
                        <a:t>Why</a:t>
                      </a:r>
                    </a:p>
                  </a:txBody>
                  <a:tcPr marL="45720" marR="45720" marT="27432" marB="27432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32D37"/>
                          </a:solidFill>
                        </a:defRPr>
                      </a:pPr>
                      <a:r>
                        <a:t>Creates rework and shipment delay</a:t>
                      </a:r>
                    </a:p>
                  </a:txBody>
                  <a:tcPr marL="45720" marR="45720" marT="27432" marB="27432">
                    <a:solidFill>
                      <a:srgbClr val="EEF4F3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32D37"/>
                          </a:solidFill>
                        </a:defRPr>
                      </a:pPr>
                      <a:r>
                        <a:t>Where</a:t>
                      </a:r>
                    </a:p>
                  </a:txBody>
                  <a:tcPr marL="45720" marR="45720" marT="27432" marB="27432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32D37"/>
                          </a:solidFill>
                        </a:defRPr>
                      </a:pPr>
                      <a:r>
                        <a:t>Final packing station</a:t>
                      </a:r>
                    </a:p>
                  </a:txBody>
                  <a:tcPr marL="45720" marR="45720" marT="27432" marB="27432">
                    <a:solidFill>
                      <a:srgbClr val="F8F9F7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32D37"/>
                          </a:solidFill>
                        </a:defRPr>
                      </a:pPr>
                      <a:r>
                        <a:t>When</a:t>
                      </a:r>
                    </a:p>
                  </a:txBody>
                  <a:tcPr marL="45720" marR="45720" marT="27432" marB="27432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32D37"/>
                          </a:solidFill>
                        </a:defRPr>
                      </a:pPr>
                      <a:r>
                        <a:t>Baseline week 2026-07-01</a:t>
                      </a:r>
                    </a:p>
                  </a:txBody>
                  <a:tcPr marL="45720" marR="45720" marT="27432" marB="27432">
                    <a:solidFill>
                      <a:srgbClr val="EEF4F3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32D37"/>
                          </a:solidFill>
                        </a:defRPr>
                      </a:pPr>
                      <a:r>
                        <a:t>Who</a:t>
                      </a:r>
                    </a:p>
                  </a:txBody>
                  <a:tcPr marL="45720" marR="45720" marT="27432" marB="27432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32D37"/>
                          </a:solidFill>
                        </a:defRPr>
                      </a:pPr>
                      <a:r>
                        <a:t>Packing team and QC reviewer</a:t>
                      </a:r>
                    </a:p>
                  </a:txBody>
                  <a:tcPr marL="45720" marR="45720" marT="27432" marB="27432">
                    <a:solidFill>
                      <a:srgbClr val="F8F9F7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32D37"/>
                          </a:solidFill>
                        </a:defRPr>
                      </a:pPr>
                      <a:r>
                        <a:t>How</a:t>
                      </a:r>
                    </a:p>
                  </a:txBody>
                  <a:tcPr marL="45720" marR="45720" marT="27432" marB="27432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32D37"/>
                          </a:solidFill>
                        </a:defRPr>
                      </a:pPr>
                      <a:r>
                        <a:t>Wrong SKU label selected before boxing</a:t>
                      </a:r>
                    </a:p>
                  </a:txBody>
                  <a:tcPr marL="45720" marR="45720" marT="27432" marB="27432">
                    <a:solidFill>
                      <a:srgbClr val="EEF4F3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32D37"/>
                          </a:solidFill>
                        </a:defRPr>
                      </a:pPr>
                      <a:r>
                        <a:t>How much</a:t>
                      </a:r>
                    </a:p>
                  </a:txBody>
                  <a:tcPr marL="45720" marR="45720" marT="27432" marB="27432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32D37"/>
                          </a:solidFill>
                        </a:defRPr>
                      </a:pPr>
                      <a:r>
                        <a:t>42 wrong-label cases in baseline week</a:t>
                      </a:r>
                    </a:p>
                  </a:txBody>
                  <a:tcPr marL="45720" marR="45720" marT="27432" marB="27432">
                    <a:solidFill>
                      <a:srgbClr val="F8F9F7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0" y="1645920"/>
            <a:ext cx="4937760" cy="4343400"/>
          </a:xfrm>
          <a:prstGeom prst="roundRect">
            <a:avLst/>
          </a:prstGeom>
          <a:solidFill>
            <a:srgbClr val="F8F9F7"/>
          </a:solidFill>
          <a:ln>
            <a:solidFill>
              <a:srgbClr val="BEC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28016"/>
          <a:lstStyle/>
          <a:p>
            <a:pPr algn="ctr"/>
            <a:r>
              <a:rPr b="1" sz="1500">
                <a:solidFill>
                  <a:srgbClr val="1B2733"/>
                </a:solidFill>
              </a:rPr>
              <a:t>How to use this template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Replace the sample rows with project data.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Keep the method labels and review fields.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Move the summarized result into the project slide.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Preserve evidence notes for review.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088136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800" b="0">
                <a:solidFill>
                  <a:srgbClr val="697077"/>
                </a:solidFill>
              </a:rPr>
              <a:t>5w2h_method_template | 5w2h | Final data-dependent evidence belongs in the evidence package.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321040" cy="42062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400" b="1">
                <a:solidFill>
                  <a:srgbClr val="1B2733"/>
                </a:solidFill>
              </a:rPr>
              <a:t>QCC stage fit and required inputs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13232"/>
            <a:ext cx="7772400" cy="23774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100" b="0">
                <a:solidFill>
                  <a:srgbClr val="5A636C"/>
                </a:solidFill>
              </a:rPr>
              <a:t>5W2H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41832"/>
            <a:ext cx="11155680" cy="27432"/>
          </a:xfrm>
          <a:prstGeom prst="rect">
            <a:avLst/>
          </a:prstGeom>
          <a:solidFill>
            <a:srgbClr val="427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5212080" cy="4526280"/>
          </a:xfrm>
          <a:prstGeom prst="roundRect">
            <a:avLst/>
          </a:prstGeom>
          <a:solidFill>
            <a:srgbClr val="F8F9F7"/>
          </a:solidFill>
          <a:ln>
            <a:solidFill>
              <a:srgbClr val="BEC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28016"/>
          <a:lstStyle/>
          <a:p>
            <a:pPr algn="ctr"/>
            <a:r>
              <a:rPr b="1" sz="1500">
                <a:solidFill>
                  <a:srgbClr val="1B2733"/>
                </a:solidFill>
              </a:rPr>
              <a:t>QCC stage fit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Define Problem: turn broad concern into project scope.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Use before detailed data collection and target setting.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The worksheet frames facts, not root causes.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325880"/>
            <a:ext cx="5212080" cy="4526280"/>
          </a:xfrm>
          <a:prstGeom prst="roundRect">
            <a:avLst/>
          </a:prstGeom>
          <a:solidFill>
            <a:srgbClr val="F8F9F7"/>
          </a:solidFill>
          <a:ln>
            <a:solidFill>
              <a:srgbClr val="BEC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28016"/>
          <a:lstStyle/>
          <a:p>
            <a:pPr algn="ctr"/>
            <a:r>
              <a:rPr b="1" sz="1500">
                <a:solidFill>
                  <a:srgbClr val="1B2733"/>
                </a:solidFill>
              </a:rPr>
              <a:t>Required inputs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Observed problem background.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Where, when, and who context.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How the issue is detected or handled.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Source, date range, and measurable impact.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1088136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800" b="0">
                <a:solidFill>
                  <a:srgbClr val="697077"/>
                </a:solidFill>
              </a:rPr>
              <a:t>5w2h_method_template | 5w2h | Final data-dependent evidence belongs in the evidence package.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321040" cy="42062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400" b="1">
                <a:solidFill>
                  <a:srgbClr val="1B2733"/>
                </a:solidFill>
              </a:rPr>
              <a:t>When to use and when not to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13232"/>
            <a:ext cx="7772400" cy="23774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100" b="0">
                <a:solidFill>
                  <a:srgbClr val="5A636C"/>
                </a:solidFill>
              </a:rPr>
              <a:t>5W2H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41832"/>
            <a:ext cx="11155680" cy="27432"/>
          </a:xfrm>
          <a:prstGeom prst="rect">
            <a:avLst/>
          </a:prstGeom>
          <a:solidFill>
            <a:srgbClr val="427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5212080" cy="4526280"/>
          </a:xfrm>
          <a:prstGeom prst="roundRect">
            <a:avLst/>
          </a:prstGeom>
          <a:solidFill>
            <a:srgbClr val="F8F9F7"/>
          </a:solidFill>
          <a:ln>
            <a:solidFill>
              <a:srgbClr val="BEC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28016"/>
          <a:lstStyle/>
          <a:p>
            <a:pPr algn="ctr"/>
            <a:r>
              <a:rPr b="1" sz="1500">
                <a:solidFill>
                  <a:srgbClr val="1B2733"/>
                </a:solidFill>
              </a:rPr>
              <a:t>When to use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The problem statement is vague.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The team needs shared scope before analysis.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Known facts can be separated from assumptions.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325880"/>
            <a:ext cx="5212080" cy="4526280"/>
          </a:xfrm>
          <a:prstGeom prst="roundRect">
            <a:avLst/>
          </a:prstGeom>
          <a:solidFill>
            <a:srgbClr val="F8F9F7"/>
          </a:solidFill>
          <a:ln>
            <a:solidFill>
              <a:srgbClr val="BEC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28016"/>
          <a:lstStyle/>
          <a:p>
            <a:pPr algn="ctr"/>
            <a:r>
              <a:rPr b="1" sz="1500">
                <a:solidFill>
                  <a:srgbClr val="1B2733"/>
                </a:solidFill>
              </a:rPr>
              <a:t>When not to use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The team is already choosing countermeasures.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Facts are unknown and not marked as gaps.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The slide is being used as root-cause proof.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1088136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800" b="0">
                <a:solidFill>
                  <a:srgbClr val="697077"/>
                </a:solidFill>
              </a:rPr>
              <a:t>5w2h_method_template | 5w2h | Final data-dependent evidence belongs in the evidence package.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321040" cy="42062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400" b="1">
                <a:solidFill>
                  <a:srgbClr val="1B2733"/>
                </a:solidFill>
              </a:rPr>
              <a:t>Blank working slide or worksheet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13232"/>
            <a:ext cx="7772400" cy="23774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100" b="0">
                <a:solidFill>
                  <a:srgbClr val="5A636C"/>
                </a:solidFill>
              </a:rPr>
              <a:t>5W2H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41832"/>
            <a:ext cx="11155680" cy="27432"/>
          </a:xfrm>
          <a:prstGeom prst="rect">
            <a:avLst/>
          </a:prstGeom>
          <a:solidFill>
            <a:srgbClr val="427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5212080" cy="4526280"/>
          </a:xfrm>
          <a:prstGeom prst="roundRect">
            <a:avLst/>
          </a:prstGeom>
          <a:solidFill>
            <a:srgbClr val="F8F9F7"/>
          </a:solidFill>
          <a:ln>
            <a:solidFill>
              <a:srgbClr val="BEC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28016"/>
          <a:lstStyle/>
          <a:p>
            <a:pPr algn="ctr"/>
            <a:r>
              <a:rPr b="1" sz="1500">
                <a:solidFill>
                  <a:srgbClr val="1B2733"/>
                </a:solidFill>
              </a:rPr>
              <a:t>Completed demo example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Review the completed demo example before editing.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DEMO EXAMPLE - not project evidence.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Copy the blank working slide or worksheet for project use.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Replace demo text with project facts.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325880"/>
            <a:ext cx="5212080" cy="4526280"/>
          </a:xfrm>
          <a:prstGeom prst="roundRect">
            <a:avLst/>
          </a:prstGeom>
          <a:solidFill>
            <a:srgbClr val="F8F9F7"/>
          </a:solidFill>
          <a:ln>
            <a:solidFill>
              <a:srgbClr val="BEC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28016"/>
          <a:lstStyle/>
          <a:p>
            <a:pPr algn="ctr"/>
            <a:r>
              <a:rPr b="1" sz="1500">
                <a:solidFill>
                  <a:srgbClr val="1B2733"/>
                </a:solidFill>
              </a:rPr>
              <a:t>Blank working slide or worksheet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Keep method labels visible.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Record source and date range.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Write Key conclusion.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Write Next action.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1088136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800" b="0">
                <a:solidFill>
                  <a:srgbClr val="697077"/>
                </a:solidFill>
              </a:rPr>
              <a:t>5w2h_method_template | 5w2h | Final data-dependent evidence belongs in the evidence package.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321040" cy="42062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400" b="1">
                <a:solidFill>
                  <a:srgbClr val="1B2733"/>
                </a:solidFill>
              </a:rPr>
              <a:t>Interpretation patterns and common mistakes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13232"/>
            <a:ext cx="7772400" cy="23774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100" b="0">
                <a:solidFill>
                  <a:srgbClr val="5A636C"/>
                </a:solidFill>
              </a:rPr>
              <a:t>5W2H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41832"/>
            <a:ext cx="11155680" cy="27432"/>
          </a:xfrm>
          <a:prstGeom prst="rect">
            <a:avLst/>
          </a:prstGeom>
          <a:solidFill>
            <a:srgbClr val="427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5212080" cy="4526280"/>
          </a:xfrm>
          <a:prstGeom prst="roundRect">
            <a:avLst/>
          </a:prstGeom>
          <a:solidFill>
            <a:srgbClr val="F8F9F7"/>
          </a:solidFill>
          <a:ln>
            <a:solidFill>
              <a:srgbClr val="BEC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28016"/>
          <a:lstStyle/>
          <a:p>
            <a:pPr algn="ctr"/>
            <a:r>
              <a:rPr b="1" sz="1500">
                <a:solidFill>
                  <a:srgbClr val="1B2733"/>
                </a:solidFill>
              </a:rPr>
              <a:t>Interpretation patterns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Problem statement: combine What, Where, When, and How much.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Scope decision: state what is included and excluded.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Gap: identify unknown facts for Check Sheet collection.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Caution: do not include unverified causes.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325880"/>
            <a:ext cx="5212080" cy="4526280"/>
          </a:xfrm>
          <a:prstGeom prst="roundRect">
            <a:avLst/>
          </a:prstGeom>
          <a:solidFill>
            <a:srgbClr val="F8F9F7"/>
          </a:solidFill>
          <a:ln>
            <a:solidFill>
              <a:srgbClr val="BEC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28016"/>
          <a:lstStyle/>
          <a:p>
            <a:pPr algn="ctr"/>
            <a:r>
              <a:rPr b="1" sz="1500">
                <a:solidFill>
                  <a:srgbClr val="1B2733"/>
                </a:solidFill>
              </a:rPr>
              <a:t>Common mistakes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Writing opinions instead of observations.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Embedding the solution in the problem statement.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Missing measurable impact.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Treating demo content as project evidence.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1088136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800" b="0">
                <a:solidFill>
                  <a:srgbClr val="697077"/>
                </a:solidFill>
              </a:rPr>
              <a:t>5w2h_method_template | 5w2h | Final data-dependent evidence belongs in the evidence package.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321040" cy="42062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400" b="1">
                <a:solidFill>
                  <a:srgbClr val="1B2733"/>
                </a:solidFill>
              </a:rPr>
              <a:t>Facilitator checklist and Python assist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13232"/>
            <a:ext cx="7772400" cy="23774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100" b="0">
                <a:solidFill>
                  <a:srgbClr val="5A636C"/>
                </a:solidFill>
              </a:rPr>
              <a:t>5W2H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41832"/>
            <a:ext cx="11155680" cy="27432"/>
          </a:xfrm>
          <a:prstGeom prst="rect">
            <a:avLst/>
          </a:prstGeom>
          <a:solidFill>
            <a:srgbClr val="427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5212080" cy="4526280"/>
          </a:xfrm>
          <a:prstGeom prst="roundRect">
            <a:avLst/>
          </a:prstGeom>
          <a:solidFill>
            <a:srgbClr val="F8F9F7"/>
          </a:solidFill>
          <a:ln>
            <a:solidFill>
              <a:srgbClr val="BEC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28016"/>
          <a:lstStyle/>
          <a:p>
            <a:pPr algn="ctr"/>
            <a:r>
              <a:rPr b="1" sz="1500">
                <a:solidFill>
                  <a:srgbClr val="1B2733"/>
                </a:solidFill>
              </a:rPr>
              <a:t>Facilitator checklist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Each W/H answer is specific.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Source and date range shown where facts are cited.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No countermeasure is hidden in the problem statement.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Key conclusion and next action are written.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325880"/>
            <a:ext cx="5212080" cy="4526280"/>
          </a:xfrm>
          <a:prstGeom prst="roundRect">
            <a:avLst/>
          </a:prstGeom>
          <a:solidFill>
            <a:srgbClr val="F8F9F7"/>
          </a:solidFill>
          <a:ln>
            <a:solidFill>
              <a:srgbClr val="BEC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28016"/>
          <a:lstStyle/>
          <a:p>
            <a:pPr algn="ctr"/>
            <a:r>
              <a:rPr b="1" sz="1500">
                <a:solidFill>
                  <a:srgbClr val="1B2733"/>
                </a:solidFill>
              </a:rPr>
              <a:t>Python assist decision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PowerPoint is enough for teaching, draft, and normal 5W2H use.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Python is not normally needed for this reasoning worksheet.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Use Python later only for evidence summaries behind impact numbers.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High-rigor data claims need a validated path.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1088136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800" b="0">
                <a:solidFill>
                  <a:srgbClr val="697077"/>
                </a:solidFill>
              </a:rPr>
              <a:t>5w2h_method_template | 5w2h | Final data-dependent evidence belongs in the evidence package.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321040" cy="42062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400" b="1">
                <a:solidFill>
                  <a:srgbClr val="1B2733"/>
                </a:solidFill>
              </a:rPr>
              <a:t>Evidence/source note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13232"/>
            <a:ext cx="7772400" cy="23774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100" b="0">
                <a:solidFill>
                  <a:srgbClr val="5A636C"/>
                </a:solidFill>
              </a:rPr>
              <a:t>5W2H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41832"/>
            <a:ext cx="11155680" cy="27432"/>
          </a:xfrm>
          <a:prstGeom prst="rect">
            <a:avLst/>
          </a:prstGeom>
          <a:solidFill>
            <a:srgbClr val="427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5212080" cy="4526280"/>
          </a:xfrm>
          <a:prstGeom prst="roundRect">
            <a:avLst/>
          </a:prstGeom>
          <a:solidFill>
            <a:srgbClr val="F8F9F7"/>
          </a:solidFill>
          <a:ln>
            <a:solidFill>
              <a:srgbClr val="BEC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28016"/>
          <a:lstStyle/>
          <a:p>
            <a:pPr algn="ctr"/>
            <a:r>
              <a:rPr b="1" sz="1500">
                <a:solidFill>
                  <a:srgbClr val="1B2733"/>
                </a:solidFill>
              </a:rPr>
              <a:t>Evidence levels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Level 1: teaching/draft PowerPoint edits.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Level 2: normal project with source and checklist evidence.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Level 3: formal review with source data and versioned template.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Level 4: audit/high-risk reproducible evidence.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325880"/>
            <a:ext cx="5212080" cy="4526280"/>
          </a:xfrm>
          <a:prstGeom prst="roundRect">
            <a:avLst/>
          </a:prstGeom>
          <a:solidFill>
            <a:srgbClr val="F8F9F7"/>
          </a:solidFill>
          <a:ln>
            <a:solidFill>
              <a:srgbClr val="BEC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28016"/>
          <a:lstStyle/>
          <a:p>
            <a:pPr algn="ctr"/>
            <a:r>
              <a:rPr b="1" sz="1500">
                <a:solidFill>
                  <a:srgbClr val="1B2733"/>
                </a:solidFill>
              </a:rPr>
              <a:t>Evidence/source note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Record source.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Record date range.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Record known facts and assumptions.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Record prepared by/date.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1088136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800" b="0">
                <a:solidFill>
                  <a:srgbClr val="697077"/>
                </a:solidFill>
              </a:rPr>
              <a:t>5w2h_method_template | 5w2h | Final data-dependent evidence belongs in the evidence package.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321040" cy="42062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400" b="1">
                <a:solidFill>
                  <a:srgbClr val="1B2733"/>
                </a:solidFill>
              </a:rPr>
              <a:t>DEMO EXAMPLE - not project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13232"/>
            <a:ext cx="7772400" cy="23774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100" b="0">
                <a:solidFill>
                  <a:srgbClr val="5A636C"/>
                </a:solidFill>
              </a:rPr>
              <a:t>5W2H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41832"/>
            <a:ext cx="11155680" cy="27432"/>
          </a:xfrm>
          <a:prstGeom prst="rect">
            <a:avLst/>
          </a:prstGeom>
          <a:solidFill>
            <a:srgbClr val="427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051560"/>
            <a:ext cx="3840480" cy="329184"/>
          </a:xfrm>
          <a:prstGeom prst="roundRect">
            <a:avLst/>
          </a:prstGeom>
          <a:solidFill>
            <a:srgbClr val="FFF2CC"/>
          </a:solidFill>
          <a:ln>
            <a:solidFill>
              <a:srgbClr val="D69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664B11"/>
                </a:solidFill>
              </a:rPr>
              <a:t>DEMO EXAMPLE - not project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5394960" cy="4206240"/>
          </a:xfrm>
          <a:prstGeom prst="roundRect">
            <a:avLst/>
          </a:prstGeom>
          <a:solidFill>
            <a:srgbClr val="F8F9F7"/>
          </a:solidFill>
          <a:ln>
            <a:solidFill>
              <a:srgbClr val="BEC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28016"/>
          <a:lstStyle/>
          <a:p>
            <a:pPr algn="ctr"/>
            <a:r>
              <a:rPr b="1" sz="1500">
                <a:solidFill>
                  <a:srgbClr val="1B2733"/>
                </a:solidFill>
              </a:rPr>
              <a:t>Demo structure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Change data only: replace the answer cells.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What: {{what}}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Why: {{why}}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Where: {{where}}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When: {{when}}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Who: {{who}}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How: {{how}}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How much: {{how_much}}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691640"/>
            <a:ext cx="4892040" cy="4206240"/>
          </a:xfrm>
          <a:prstGeom prst="roundRect">
            <a:avLst/>
          </a:prstGeom>
          <a:solidFill>
            <a:srgbClr val="F8F9F7"/>
          </a:solidFill>
          <a:ln>
            <a:solidFill>
              <a:srgbClr val="BEC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28016"/>
          <a:lstStyle/>
          <a:p>
            <a:pPr algn="ctr"/>
            <a:r>
              <a:rPr b="1" sz="1500">
                <a:solidFill>
                  <a:srgbClr val="1B2733"/>
                </a:solidFill>
              </a:rPr>
              <a:t>Reserved placeholders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{{method_name}}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{{qcc_stage}}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{{demo_label}}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{{what}}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{{why}}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{{where}}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{{when}}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{{who}}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{{how}}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{{how_much}}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088136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800" b="0">
                <a:solidFill>
                  <a:srgbClr val="697077"/>
                </a:solidFill>
              </a:rPr>
              <a:t>5w2h_method_template | 5w2h | Final data-dependent evidence belongs in the evidence package.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321040" cy="42062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400" b="1">
                <a:solidFill>
                  <a:srgbClr val="1B2733"/>
                </a:solidFill>
              </a:rPr>
              <a:t>Blank working slide or worksheet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13232"/>
            <a:ext cx="7772400" cy="23774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100" b="0">
                <a:solidFill>
                  <a:srgbClr val="5A636C"/>
                </a:solidFill>
              </a:rPr>
              <a:t>5W2H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41832"/>
            <a:ext cx="11155680" cy="27432"/>
          </a:xfrm>
          <a:prstGeom prst="rect">
            <a:avLst/>
          </a:prstGeom>
          <a:solidFill>
            <a:srgbClr val="427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051560"/>
            <a:ext cx="4754880" cy="329184"/>
          </a:xfrm>
          <a:prstGeom prst="roundRect">
            <a:avLst/>
          </a:prstGeom>
          <a:solidFill>
            <a:srgbClr val="FFF2CC"/>
          </a:solidFill>
          <a:ln>
            <a:solidFill>
              <a:srgbClr val="D69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664B11"/>
                </a:solidFill>
              </a:rPr>
              <a:t>Replace demo content with project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5394960" cy="4206240"/>
          </a:xfrm>
          <a:prstGeom prst="roundRect">
            <a:avLst/>
          </a:prstGeom>
          <a:solidFill>
            <a:srgbClr val="F8F9F7"/>
          </a:solidFill>
          <a:ln>
            <a:solidFill>
              <a:srgbClr val="BEC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28016"/>
          <a:lstStyle/>
          <a:p>
            <a:pPr algn="ctr"/>
            <a:r>
              <a:rPr b="1" sz="1500">
                <a:solidFill>
                  <a:srgbClr val="1B2733"/>
                </a:solidFill>
              </a:rPr>
              <a:t>Project slide checklist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Project title: [problem statement draft]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Worksheet: replace demo answer cells with project facts.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Source: [observation, record, interview, or gemba walk]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Date range: [when the facts were observed]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Key conclusion: [specific measurable problem statement]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Next action: [Check Sheet, Pareto, SIPOC, or target setting]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Prepared by/date: [name and date]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691640"/>
            <a:ext cx="4892040" cy="4206240"/>
          </a:xfrm>
          <a:prstGeom prst="roundRect">
            <a:avLst/>
          </a:prstGeom>
          <a:solidFill>
            <a:srgbClr val="F8F9F7"/>
          </a:solidFill>
          <a:ln>
            <a:solidFill>
              <a:srgbClr val="BEC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28016"/>
          <a:lstStyle/>
          <a:p>
            <a:pPr algn="ctr"/>
            <a:r>
              <a:rPr b="1" sz="1500">
                <a:solidFill>
                  <a:srgbClr val="1B2733"/>
                </a:solidFill>
              </a:rPr>
              <a:t>Reserved placeholders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{{method_name}}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{{qcc_stage}}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{{demo_label}}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{{what}}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{{why}}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{{where}}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{{when}}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{{who}}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{{how}}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{{how_much}}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088136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800" b="0">
                <a:solidFill>
                  <a:srgbClr val="697077"/>
                </a:solidFill>
              </a:rPr>
              <a:t>5w2h_method_template | 5w2h | Final data-dependent evidence belongs in the evidence package.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5W2H QCC Method Template</dc:title>
  <dc:subject>QCC Toolkit method template</dc:subject>
  <dc:creator/>
  <cp:keywords>qcc, 5w2h, 5w2h_method_template, DEMO EXAMPLE</cp:keywords>
  <dc:description>Generated by tools/build_ppt_templates.py from template catalog and reviewable Markdown source notes.</dc:description>
  <cp:lastModifiedBy>QCC Toolkit</cp:lastModifiedBy>
  <cp:revision>1</cp:revision>
  <dcterms:created xsi:type="dcterms:W3CDTF">2026-07-08T00:00:00Z</dcterms:created>
  <dcterms:modified xsi:type="dcterms:W3CDTF">2026-07-08T00:00:00Z</dcterms:modified>
  <cp:category/>
</cp:coreProperties>
</file>