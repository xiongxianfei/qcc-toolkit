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Fishbone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QCC method template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46520" y="1325880"/>
            <a:ext cx="4709160" cy="1143000"/>
          </a:xfrm>
          <a:prstGeom prst="rect">
            <a:avLst/>
          </a:prstGeom>
          <a:solidFill>
            <a:srgbClr val="EEF4F3"/>
          </a:solidFill>
          <a:ln>
            <a:solidFill>
              <a:srgbClr val="AAC3BE"/>
            </a:solidFill>
          </a:ln>
        </p:spPr>
        <p:txBody>
          <a:bodyPr wrap="square" lIns="73152" rIns="73152">
            <a:spAutoFit/>
          </a:bodyPr>
          <a:lstStyle/>
          <a:p>
            <a:r>
              <a:rPr sz="1200" b="0">
                <a:solidFill>
                  <a:srgbClr val="2D3741"/>
                </a:solidFill>
              </a:rPr>
              <a:t>template_id: fishbone_diagram_method_template
method_id: fishbone_diagram
qcc_stage: Analyze Causes
{{method_name}} | {{qcc_stage}} | {{demo_label}}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5120640" cy="11430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232D37"/>
                </a:solidFill>
              </a:rPr>
              <a:t>Purpose: organize suspected causes before verification.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63240"/>
            <a:ext cx="5303520" cy="23774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Template rules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PowerPoint teaches and presents.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Markdown governs method knowledge.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Python generates data-dependent evidence.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Final project slides must preserve evidence references.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3063240"/>
            <a:ext cx="5303520" cy="23774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Placeholders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{{method_name}}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{{qcc_stage}}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{{demo_label}}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{{effect_statement}}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{{cause_branches}}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{{verified_causes}}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fishbone_diagram_method_template | fishbone_diagram | Final data-dependent evidence belongs in the evidence package.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DATA ENTRY - replace cause statements only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Fishbone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051560"/>
            <a:ext cx="4572000" cy="329184"/>
          </a:xfrm>
          <a:prstGeom prst="roundRect">
            <a:avLst/>
          </a:prstGeom>
          <a:solidFill>
            <a:srgbClr val="FFF2CC"/>
          </a:solidFill>
          <a:ln>
            <a:solidFill>
              <a:srgbClr val="D69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664B11"/>
                </a:solidFill>
              </a:rPr>
              <a:t>Change data only - keep layout and labels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45920"/>
          <a:ext cx="548640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7239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FFFFF"/>
                          </a:solidFill>
                        </a:defRPr>
                      </a:pPr>
                      <a:r>
                        <a:t>Branch</a:t>
                      </a:r>
                    </a:p>
                  </a:txBody>
                  <a:tcPr marL="45720" marR="45720" marT="27432" marB="27432">
                    <a:solidFill>
                      <a:srgbClr val="427E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FFFFF"/>
                          </a:solidFill>
                        </a:defRPr>
                      </a:pPr>
                      <a:r>
                        <a:t>Suspected cause</a:t>
                      </a:r>
                    </a:p>
                  </a:txBody>
                  <a:tcPr marL="45720" marR="45720" marT="27432" marB="27432">
                    <a:solidFill>
                      <a:srgbClr val="427E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FFFFF"/>
                          </a:solidFill>
                        </a:defRPr>
                      </a:pPr>
                      <a:r>
                        <a:t>Evidence / verification</a:t>
                      </a:r>
                    </a:p>
                  </a:txBody>
                  <a:tcPr marL="45720" marR="45720" marT="27432" marB="27432">
                    <a:solidFill>
                      <a:srgbClr val="427E78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Method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Label check happens after boxing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Observed in flow walk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Machine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Scanner warning is easy to miss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Needs confirmation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Material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Similar label roll colors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Photo evidence needed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People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New operators rotate into station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Training record review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Environment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Work table has mixed SKU paperwork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Gemba note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0" y="1645920"/>
            <a:ext cx="4937760" cy="434340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How to use this template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Replace the sample rows with project data.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Keep the method labels and review fields.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Move the summarized result into the project slide.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Preserve evidence notes for review.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fishbone_diagram_method_template | fishbone_diagram | Final data-dependent evidence belongs in the evidence package.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QCC stage fit and required inputs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Fishbone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QCC stage fit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Analyze Causes: organize suspected causes for one effect.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Use after the problem and baseline evidence are clear.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The diagram is a hypothesis map, not proof.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Required inputs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One clear effect statement.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Cause branches that fit the process.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Suspected causes and evidence notes.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Source, date range, and verification plan.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fishbone_diagram_method_template | fishbone_diagram | Final data-dependent evidence belongs in the evidence package.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When to use and when not to 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Fishbone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When to use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The team needs to organize many possible causes.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Several process factors may contribute to the effect.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Follow-up verification can be assigned.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When not to use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The effect statement is vague or mixed.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The team wants to vote without evidence.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The slide is being used as verified root-cause proof.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fishbone_diagram_method_template | fishbone_diagram | Final data-dependent evidence belongs in the evidence package.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Blank working slide or worksheet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Fishbone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Completed demo example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Review the completed demo example before editing.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DEMO EXAMPLE - not project evidence.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Copy the blank working slide or worksheet for project use.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Replace demo text with project facts.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Blank working slide or worksheet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Keep method labels visible.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Record source and date range.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Write Key conclusion.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Write Next action.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fishbone_diagram_method_template | fishbone_diagram | Final data-dependent evidence belongs in the evidence package.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Diagram quality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Fishbone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Diagram decision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Select suspected causes to verify next for one effect.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Pattern to look for: testable causes, not the most opinions.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Good structure: one effect, branches, causes, markers, evidence.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Safe conclusion: suspected causes and verification priorities.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Overclaim to avoid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The diagram does not prove root cause.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The diagram does not prove countermeasure effectiveness.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Do not mix several effects on one fishbone.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Do not select causes without a verification method.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fishbone_diagram_method_template | fishbone_diagram | Final data-dependent evidence belongs in the evidence package.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Verification marker legend and cause wording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Fishbone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Verification marker legend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[S] Suspected: proposed but not selected.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[V?] Selected for verification: check next.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[V] Verified: supported by later evidence.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[X] Rejected: checked and not supported.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Cause wording guide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Weak wording: "Operator error".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Testable wording: "New operators lack label-check training".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Weak wording: "Bad machine".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Testable wording: "Scanner warning is not visible".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fishbone_diagram_method_template | fishbone_diagram | Final data-dependent evidence belongs in the evidence package.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Editable fishbone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Fishbone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051560"/>
            <a:ext cx="4937760" cy="329184"/>
          </a:xfrm>
          <a:prstGeom prst="roundRect">
            <a:avLst/>
          </a:prstGeom>
          <a:solidFill>
            <a:srgbClr val="FFF2CC"/>
          </a:solidFill>
          <a:ln>
            <a:solidFill>
              <a:srgbClr val="D69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664B11"/>
                </a:solidFill>
              </a:rPr>
              <a:t>Replace demo causes with project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41080" y="2468880"/>
            <a:ext cx="2514600" cy="685800"/>
          </a:xfrm>
          <a:prstGeom prst="rect">
            <a:avLst/>
          </a:prstGeom>
          <a:solidFill>
            <a:srgbClr val="EEF4F3"/>
          </a:solidFill>
          <a:ln>
            <a:solidFill>
              <a:srgbClr val="427E78"/>
            </a:solidFill>
          </a:ln>
        </p:spPr>
        <p:txBody>
          <a:bodyPr wrap="square" lIns="73152" rIns="73152">
            <a:spAutoFit/>
          </a:bodyPr>
          <a:lstStyle/>
          <a:p>
            <a:r>
              <a:rPr sz="1300" b="1">
                <a:solidFill>
                  <a:srgbClr val="1B2733"/>
                </a:solidFill>
              </a:rPr>
              <a:t>Effect statement
{{effect_statement}}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60120" y="2816352"/>
            <a:ext cx="7680960" cy="0"/>
          </a:xfrm>
          <a:prstGeom prst="line">
            <a:avLst/>
          </a:prstGeom>
          <a:ln w="28575">
            <a:solidFill>
              <a:srgbClr val="427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143000" y="1234440"/>
            <a:ext cx="1371600" cy="1581912"/>
          </a:xfrm>
          <a:prstGeom prst="line">
            <a:avLst/>
          </a:prstGeom>
          <a:ln w="19050">
            <a:solidFill>
              <a:srgbClr val="7889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47672" y="612648"/>
            <a:ext cx="1874519" cy="658368"/>
          </a:xfrm>
          <a:prstGeom prst="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txBody>
          <a:bodyPr wrap="square" lIns="73152" rIns="73152">
            <a:spAutoFit/>
          </a:bodyPr>
          <a:lstStyle/>
          <a:p>
            <a:r>
              <a:rPr sz="900" b="0">
                <a:solidFill>
                  <a:srgbClr val="232D37"/>
                </a:solidFill>
              </a:rPr>
              <a:t>Method
S: Label check after boxing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3246120" y="1234440"/>
            <a:ext cx="1234440" cy="1581912"/>
          </a:xfrm>
          <a:prstGeom prst="line">
            <a:avLst/>
          </a:prstGeom>
          <a:ln w="19050">
            <a:solidFill>
              <a:srgbClr val="7889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913632" y="612648"/>
            <a:ext cx="1874519" cy="658368"/>
          </a:xfrm>
          <a:prstGeom prst="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txBody>
          <a:bodyPr wrap="square" lIns="73152" rIns="73152">
            <a:spAutoFit/>
          </a:bodyPr>
          <a:lstStyle/>
          <a:p>
            <a:r>
              <a:rPr sz="900" b="0">
                <a:solidFill>
                  <a:srgbClr val="232D37"/>
                </a:solidFill>
              </a:rPr>
              <a:t>Machine
V?: Scanner warning easy to miss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5257800" y="1234440"/>
            <a:ext cx="1234440" cy="1581912"/>
          </a:xfrm>
          <a:prstGeom prst="line">
            <a:avLst/>
          </a:prstGeom>
          <a:ln w="19050">
            <a:solidFill>
              <a:srgbClr val="7889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925312" y="612648"/>
            <a:ext cx="1874519" cy="658368"/>
          </a:xfrm>
          <a:prstGeom prst="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txBody>
          <a:bodyPr wrap="square" lIns="73152" rIns="73152">
            <a:spAutoFit/>
          </a:bodyPr>
          <a:lstStyle/>
          <a:p>
            <a:r>
              <a:rPr sz="900" b="0">
                <a:solidFill>
                  <a:srgbClr val="232D37"/>
                </a:solidFill>
              </a:rPr>
              <a:t>Material
S: Similar label roll colors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234440" y="2816352"/>
            <a:ext cx="1371600" cy="1344168"/>
          </a:xfrm>
          <a:prstGeom prst="line">
            <a:avLst/>
          </a:prstGeom>
          <a:ln w="19050">
            <a:solidFill>
              <a:srgbClr val="7889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039112" y="4251959"/>
            <a:ext cx="1874519" cy="658368"/>
          </a:xfrm>
          <a:prstGeom prst="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txBody>
          <a:bodyPr wrap="square" lIns="73152" rIns="73152">
            <a:spAutoFit/>
          </a:bodyPr>
          <a:lstStyle/>
          <a:p>
            <a:r>
              <a:rPr sz="900" b="0">
                <a:solidFill>
                  <a:srgbClr val="232D37"/>
                </a:solidFill>
              </a:rPr>
              <a:t>People
S: New operators rotate in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429000" y="2816352"/>
            <a:ext cx="1371600" cy="1344168"/>
          </a:xfrm>
          <a:prstGeom prst="line">
            <a:avLst/>
          </a:prstGeom>
          <a:ln w="19050">
            <a:solidFill>
              <a:srgbClr val="7889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233672" y="4251959"/>
            <a:ext cx="1874519" cy="658368"/>
          </a:xfrm>
          <a:prstGeom prst="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txBody>
          <a:bodyPr wrap="square" lIns="73152" rIns="73152">
            <a:spAutoFit/>
          </a:bodyPr>
          <a:lstStyle/>
          <a:p>
            <a:r>
              <a:rPr sz="900" b="0">
                <a:solidFill>
                  <a:srgbClr val="232D37"/>
                </a:solidFill>
              </a:rPr>
              <a:t>Environment
V?: Mixed SKU paperwork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532120" y="2816352"/>
            <a:ext cx="1371600" cy="1344168"/>
          </a:xfrm>
          <a:prstGeom prst="line">
            <a:avLst/>
          </a:prstGeom>
          <a:ln w="19050">
            <a:solidFill>
              <a:srgbClr val="7889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336792" y="4251959"/>
            <a:ext cx="1874519" cy="658368"/>
          </a:xfrm>
          <a:prstGeom prst="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txBody>
          <a:bodyPr wrap="square" lIns="73152" rIns="73152">
            <a:spAutoFit/>
          </a:bodyPr>
          <a:lstStyle/>
          <a:p>
            <a:r>
              <a:rPr sz="900" b="0">
                <a:solidFill>
                  <a:srgbClr val="232D37"/>
                </a:solidFill>
              </a:rPr>
              <a:t>Measurement
X: Audit form not root cause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349240"/>
            <a:ext cx="3657600" cy="7772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Verification marker legend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[S] Suspected | [V?] Selected for verification | [V] Verified | [X] Rejected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26280" y="5349240"/>
            <a:ext cx="3246120" cy="7772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Selected causes to verify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Choose 2-3 causes with clear verification methods.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4160520"/>
            <a:ext cx="3337560" cy="150876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Evidence/source fields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Source: [team session, gemba, records].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Date range/session date: [date].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Prepared by/date: [name/date].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fishbone_diagram_method_template | fishbone_diagram | Final data-dependent evidence belongs in the evidence package.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Cause verification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Fishbone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417320"/>
          <a:ext cx="108356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7128"/>
                <a:gridCol w="2167128"/>
                <a:gridCol w="2167128"/>
                <a:gridCol w="2167128"/>
                <a:gridCol w="2167128"/>
              </a:tblGrid>
              <a:tr h="50292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FFFFF"/>
                          </a:solidFill>
                        </a:defRPr>
                      </a:pPr>
                      <a:r>
                        <a:t>Selected cause</a:t>
                      </a:r>
                    </a:p>
                  </a:txBody>
                  <a:tcPr marL="45720" marR="45720" marT="27432" marB="27432">
                    <a:solidFill>
                      <a:srgbClr val="427E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FFFFF"/>
                          </a:solidFill>
                        </a:defRPr>
                      </a:pPr>
                      <a:r>
                        <a:t>Verification method</a:t>
                      </a:r>
                    </a:p>
                  </a:txBody>
                  <a:tcPr marL="45720" marR="45720" marT="27432" marB="27432">
                    <a:solidFill>
                      <a:srgbClr val="427E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FFFFF"/>
                          </a:solidFill>
                        </a:defRPr>
                      </a:pPr>
                      <a:r>
                        <a:t>Owner</a:t>
                      </a:r>
                    </a:p>
                  </a:txBody>
                  <a:tcPr marL="45720" marR="45720" marT="27432" marB="27432">
                    <a:solidFill>
                      <a:srgbClr val="427E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FFFFF"/>
                          </a:solidFill>
                        </a:defRPr>
                      </a:pPr>
                      <a:r>
                        <a:t>Due date</a:t>
                      </a:r>
                    </a:p>
                  </a:txBody>
                  <a:tcPr marL="45720" marR="45720" marT="27432" marB="27432">
                    <a:solidFill>
                      <a:srgbClr val="427E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 marL="45720" marR="45720" marT="27432" marB="27432">
                    <a:solidFill>
                      <a:srgbClr val="427E7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Scanner warning easy to miss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Gemba observation and photo check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[owner]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[date]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[V?]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Mixed SKU paperwork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Review packing station layout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[owner]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[date]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[V?]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[cause]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[check, data review, or 5 Whys]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[owner]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[date]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[S/V?/V/X]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85800" y="3703320"/>
            <a:ext cx="5166360" cy="141732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Use this plan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Select only causes that can be checked.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Assign owner and due date before countermeasure selection.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Update Status after verification evidence is reviewed.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3703320"/>
            <a:ext cx="5166360" cy="141732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Review risks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No verification method.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Owner or due date missing.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Status marked [V] without evidence.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Cause moved to countermeasure too early.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fishbone_diagram_method_template | fishbone_diagram | Final data-dependent evidence belongs in the evidence package.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Interpretation patterns and common mistakes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Fishbone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Interpretation patterns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Cause map: name the highest-priority branches.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Verification decision: list causes to test next.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Next action: run 5 Whys or data checks for selected causes.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Caution: suspected causes remain unverified until tested.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Common mistakes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Mixing several effects on one diagram.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Listing symptoms as causes.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Marking causes verified without evidence.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Treating demo content as project evidence.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fishbone_diagram_method_template | fishbone_diagram | Final data-dependent evidence belongs in the evidence package.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Facilitator checklist and Python assist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Fishbone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Facilitator checklist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Effect statement matches project evidence.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Source and date range or session date shown.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Suspected and verified causes are separated.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Key conclusion and next action are written.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Python assist decision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PowerPoint is enough for teaching, draft, and diagram editing.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Python is not normally needed for this visual method.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Use Python later only to summarize verification data.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High-rigor data claims need a validated path.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fishbone_diagram_method_template | fishbone_diagram | Final data-dependent evidence belongs in the evidence package.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Evidence/source note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Fishbone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Evidence levels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Level 1: teaching/draft PowerPoint edits.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Level 2: normal project with source and checklist evidence.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Level 3: formal review with source data and versioned template.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Level 4: audit/high-risk reproducible evidence.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Evidence/source note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Record source.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Record date range or session date.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Record assumptions and verification status.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Record prepared by/date.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fishbone_diagram_method_template | fishbone_diagram | Final data-dependent evidence belongs in the evidence package.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DEMO EXAMPLE - not project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Fishbone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051560"/>
            <a:ext cx="3840480" cy="329184"/>
          </a:xfrm>
          <a:prstGeom prst="roundRect">
            <a:avLst/>
          </a:prstGeom>
          <a:solidFill>
            <a:srgbClr val="FFF2CC"/>
          </a:solidFill>
          <a:ln>
            <a:solidFill>
              <a:srgbClr val="D69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664B11"/>
                </a:solidFill>
              </a:rPr>
              <a:t>DEMO EXAMPLE - not project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5394960" cy="42062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Demo structure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Change data only: replace branch causes and evidence notes.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Effect statement: {{effect_statement}}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Cause branches: {{cause_branches}}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Verified causes: {{verified_causes}}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691640"/>
            <a:ext cx="4892040" cy="42062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Reserved placeholders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{{method_name}}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{{qcc_stage}}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{{demo_label}}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{{effect_statement}}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{{cause_branches}}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{{verified_causes}}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fishbone_diagram_method_template | fishbone_diagram | Final data-dependent evidence belongs in the evidence package.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Blank working slide or worksheet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Fishbone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051560"/>
            <a:ext cx="4754880" cy="329184"/>
          </a:xfrm>
          <a:prstGeom prst="roundRect">
            <a:avLst/>
          </a:prstGeom>
          <a:solidFill>
            <a:srgbClr val="FFF2CC"/>
          </a:solidFill>
          <a:ln>
            <a:solidFill>
              <a:srgbClr val="D69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664B11"/>
                </a:solidFill>
              </a:rPr>
              <a:t>Replace demo content with project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5394960" cy="42062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Project slide checklist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Project title: [effect statement]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Diagram: replace demo branches and causes.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Source: [team session, gemba notes, or evidence review]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Date range: [problem period or session date]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Key conclusion: [which causes need verification]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Next action: [5 Whys, data check, or verification plan]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Prepared by/date: [name and date]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691640"/>
            <a:ext cx="4892040" cy="42062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Reserved placeholders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{{method_name}}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{{qcc_stage}}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{{demo_label}}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{{effect_statement}}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{{cause_branches}}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{{verified_causes}}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fishbone_diagram_method_template | fishbone_diagram | Final data-dependent evidence belongs in the evidence package.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Fishbone Diagram QCC Method Template</dc:title>
  <dc:subject>QCC Toolkit method template</dc:subject>
  <dc:creator/>
  <cp:keywords>qcc, fishbone_diagram, fishbone_diagram_method_template, DEMO EXAMPLE</cp:keywords>
  <dc:description>Generated by tools/build_ppt_templates.py from template catalog and reviewable Markdown source notes.</dc:description>
  <cp:lastModifiedBy>QCC Toolkit</cp:lastModifiedBy>
  <cp:revision>1</cp:revision>
  <dcterms:created xsi:type="dcterms:W3CDTF">2026-07-08T00:00:00Z</dcterms:created>
  <dcterms:modified xsi:type="dcterms:W3CDTF">2026-07-08T00:00:00Z</dcterms:modified>
  <cp:category/>
</cp:coreProperties>
</file>