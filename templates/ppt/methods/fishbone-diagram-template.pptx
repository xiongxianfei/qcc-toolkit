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Fishbone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fishbone_diagram_method_template
method_id: fishbone_diagram
qcc_stage: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Purpose: organize suspected causes before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cause statements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Suspected cause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Evidence / verification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Label check happens after boxing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Observed in flow walk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Machine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Scanner warning is easy to miss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Needs confirmation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Material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Similar label roll colors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Photo evidence needed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People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New operators rotate into station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Training record review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Environment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Work table has mixed SKU paperwork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Gemba note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QCC stage fit and required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QCC stage fit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Analyze Causes: organize suspected causes for one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after the problem and baseline evidence are clear.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is a hypothesis map, not proof.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Required inputs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One clear effect statement.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 that fit the process.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Short visible cause labels.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Verification detail, source, date range, and plan.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When to use and when not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to organize many possible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Several process factors may contribute to the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Follow-up verification can be assigned.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not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effect statement is vague or mixed.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wants to vote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slide is being used as verified root-cause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Completed demo example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Review the completed demo example before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DEMO EXAMPLE - not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Copy the blank working slide or worksheet for project 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demo text with project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Blank working slide or worksheet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method labels visible.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 and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Key conclusion.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Next 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Diagram quality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Diagram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Select suspected causes to verify next for one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Pattern to look for: testable causes, not the most opinions.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Good structure: one effect, branches, causes, markers,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the four-layer architecture to keep the diagram readable.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Safe conclusion: suspected causes and verification priorities.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Overclaim to avoid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does not prove root cause.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does not prove countermeasure effectiveness.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mix several effects on one fishbone.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Do not select causes without a verification method.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Four-layer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Diagram layers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Layer 1: effect - one clear problem statement.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Layer 2: branch category - process-fit cause family.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Layer 3: short visible cause - compact label on the fishbone.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Layer 4: verification detail - evidence, method, owner, status.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Readability rule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Layer 4 out of the diagram body.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Put Layer 4 in the verification plan or evidence/source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one or two Layer 3 labels per branch on presentation slides.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long 5 Whys chains and notes to follow-up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Verification marker legend and cause wording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Verification marker legend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[S] Suspected: proposed but not selected.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[V?] Selected for verification: check next.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[V] Verified: supported by later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[X] Rejected: checked and not supported.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Cause wording guide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Weak wording: "Operator error".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Testable wording: "New operators lack label-check training".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Weak wording: "Bad machine".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Testable wording: "Scanner warning is not visible".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Clean editable fishbone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56692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short cause labels; keep details in the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2404872"/>
            <a:ext cx="2697480" cy="822960"/>
          </a:xfrm>
          <a:prstGeom prst="roundRect">
            <a:avLst/>
          </a:prstGeom>
          <a:solidFill>
            <a:srgbClr val="E8F1EF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1B2733"/>
                </a:solidFill>
              </a:rPr>
              <a:t>Effect statement
{{effect_statement}}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60120" y="2834640"/>
            <a:ext cx="7589520" cy="0"/>
          </a:xfrm>
          <a:prstGeom prst="line">
            <a:avLst/>
          </a:prstGeom>
          <a:ln w="31750">
            <a:solidFill>
              <a:srgbClr val="2A67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508760" y="12344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0" y="365760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21992" y="941832"/>
            <a:ext cx="329184" cy="256032"/>
          </a:xfrm>
          <a:prstGeom prst="roundRect">
            <a:avLst/>
          </a:prstGeom>
          <a:solidFill>
            <a:srgbClr val="ECEFF1"/>
          </a:solidFill>
          <a:ln>
            <a:solidFill>
              <a:srgbClr val="73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394247"/>
                </a:solidFill>
              </a:rPr>
              <a:t>[S]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923544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Late label check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429000" y="12344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14800" y="365760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Machine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1" y="941832"/>
            <a:ext cx="420624" cy="256032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664B11"/>
                </a:solidFill>
              </a:rPr>
              <a:t>[V?]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923544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Scanner warning hidden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5349240" y="12344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035040" y="365760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Material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62472" y="941832"/>
            <a:ext cx="329184" cy="256032"/>
          </a:xfrm>
          <a:prstGeom prst="roundRect">
            <a:avLst/>
          </a:prstGeom>
          <a:solidFill>
            <a:srgbClr val="ECEFF1"/>
          </a:solidFill>
          <a:ln>
            <a:solidFill>
              <a:srgbClr val="73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394247"/>
                </a:solidFill>
              </a:rPr>
              <a:t>[S]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923544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Similar roll colors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08760" y="28346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194560" y="4544568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People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21992" y="5020055"/>
            <a:ext cx="329184" cy="256032"/>
          </a:xfrm>
          <a:prstGeom prst="roundRect">
            <a:avLst/>
          </a:prstGeom>
          <a:solidFill>
            <a:srgbClr val="ECEFF1"/>
          </a:solidFill>
          <a:ln>
            <a:solidFill>
              <a:srgbClr val="737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394247"/>
                </a:solidFill>
              </a:rPr>
              <a:t>[S]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001768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New operators rotate in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29000" y="28346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114800" y="4544568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Environment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42231" y="5020055"/>
            <a:ext cx="420624" cy="256032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664B11"/>
                </a:solidFill>
              </a:rPr>
              <a:t>[V?]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001768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Mixed SKU paperwork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49240" y="2834640"/>
            <a:ext cx="1188720" cy="1600200"/>
          </a:xfrm>
          <a:prstGeom prst="line">
            <a:avLst/>
          </a:prstGeom>
          <a:ln w="17145">
            <a:solidFill>
              <a:srgbClr val="6980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035040" y="4544568"/>
            <a:ext cx="1005840" cy="320040"/>
          </a:xfrm>
          <a:prstGeom prst="roundRect">
            <a:avLst/>
          </a:prstGeom>
          <a:solidFill>
            <a:srgbClr val="427E78"/>
          </a:solidFill>
          <a:ln>
            <a:solidFill>
              <a:srgbClr val="427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800" b="1">
                <a:solidFill>
                  <a:srgbClr val="FFFFFF"/>
                </a:solidFill>
              </a:rPr>
              <a:t>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62472" y="5020055"/>
            <a:ext cx="329184" cy="256032"/>
          </a:xfrm>
          <a:prstGeom prst="roundRect">
            <a:avLst/>
          </a:prstGeom>
          <a:solidFill>
            <a:srgbClr val="F6E6E2"/>
          </a:solidFill>
          <a:ln>
            <a:solidFill>
              <a:srgbClr val="AD5B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700" b="1">
                <a:solidFill>
                  <a:srgbClr val="75342A"/>
                </a:solidFill>
              </a:rPr>
              <a:t>[X]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001768"/>
            <a:ext cx="1508760" cy="34747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900" b="0">
                <a:solidFill>
                  <a:srgbClr val="232D37"/>
                </a:solidFill>
              </a:rPr>
              <a:t>Audit form mismatch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230368"/>
            <a:ext cx="3749039" cy="914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Visual design rule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Editable fishbone diagram.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Centered fishbone composition with Branch label capsules.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Short cause labels on the diagram.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Details stay in verification plan.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Four-layer architecture keeps details out of the fishbone body.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5230368"/>
            <a:ext cx="2926080" cy="914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Status badges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[S] Suspected | [V?] Verify | [V] Verified | [X] Rejected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18120" y="4251960"/>
            <a:ext cx="3429000" cy="16002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fields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Selected causes to verify: [V?] only.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Layer 4: verification detail belongs here or in the plan.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[team session, gemba, records].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range/session date: [date].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Layer 4 out of the diagram body.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Cause verification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17320"/>
          <a:ext cx="10835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940"/>
                <a:gridCol w="1805940"/>
                <a:gridCol w="1805940"/>
                <a:gridCol w="1805940"/>
                <a:gridCol w="1805940"/>
                <a:gridCol w="1805940"/>
              </a:tblGrid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Selected cause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Verification method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Due date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Machine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Scanner warning easy to miss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Gemba observation and photo check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[V?]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Environment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Mixed SKU paperwork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Review packing station layout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[V?]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[branch]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[cause]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[check, data review, or 5 Whys]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[owner]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[date]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[S/V?/V/X]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" y="3703320"/>
            <a:ext cx="5166360" cy="141732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Use this plan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This is Layer 4: verification detail.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Select only causes that can be checked.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Assign owner and due date before countermeasure selection.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Update Status after verification evidence is reviewed.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703320"/>
            <a:ext cx="5166360" cy="141732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Review risks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No verification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Owner or due date missing.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Status marked [V]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moved to countermeasure too early.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Interpretation patterns and 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Interpretation patterns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map: name the highest-priority branches.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Verification decision: list causes to test next.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run 5 Whys or data checks for selected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Caution: suspected causes remain unverified until tested.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Common mistakes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Mixing several effects on one diagram.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Listing symptoms as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Marking causes verified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Treating demo content as project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Facilitator checklist and Python assist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Facilitator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 matches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 and date range or session date shown.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Suspected and verified causes are separated.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 and next action are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Python assist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is enough for teaching, draft, and diagram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is not normally needed for this visual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Python later only to summarize verification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High-rigor data claims need a validated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Evidence/source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 levels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1: teaching/draft PowerPoint edits.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2: normal project with source and checklist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formal review with source data and versioned template.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audit/high-risk reproducible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note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date range or session date.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assumptions and verification status.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prepared by/date.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branch causes and evidence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statement: 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branches: 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Verified causes: {{verified_causes}}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Project title: [effect statement]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Diagram: replace demo branches and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[team session, gemba notes, or evidence review]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range: [problem period or session date]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conclusion: [which causes need verification]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[5 Whys, data check, or verification plan]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 and 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Fishbone Diagram QCC Method Template</dc:title>
  <dc:subject>QCC Toolkit method template</dc:subject>
  <dc:creator/>
  <cp:keywords>qcc, fishbone_diagram, fishbone_diagram_method_template,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